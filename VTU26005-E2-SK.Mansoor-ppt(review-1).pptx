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71" r:id="rId12"/>
    <p:sldId id="272" r:id="rId13"/>
    <p:sldId id="273" r:id="rId14"/>
    <p:sldId id="269"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DC508-DDBD-4DA5-BDA3-F0874A733283}" v="2" dt="2026-03-25T05:34:00.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k Mansoor" userId="ae84e7ba31bd68ca" providerId="LiveId" clId="{47C3562C-7365-457F-8BA3-C6A767D26620}"/>
    <pc:docChg chg="undo custSel addSld delSld modSld">
      <pc:chgData name="Sk Mansoor" userId="ae84e7ba31bd68ca" providerId="LiveId" clId="{47C3562C-7365-457F-8BA3-C6A767D26620}" dt="2026-03-25T05:36:51.943" v="36" actId="47"/>
      <pc:docMkLst>
        <pc:docMk/>
      </pc:docMkLst>
      <pc:sldChg chg="modSp mod">
        <pc:chgData name="Sk Mansoor" userId="ae84e7ba31bd68ca" providerId="LiveId" clId="{47C3562C-7365-457F-8BA3-C6A767D26620}" dt="2026-03-25T04:24:41.811" v="7" actId="20577"/>
        <pc:sldMkLst>
          <pc:docMk/>
          <pc:sldMk cId="0" sldId="257"/>
        </pc:sldMkLst>
        <pc:spChg chg="mod">
          <ac:chgData name="Sk Mansoor" userId="ae84e7ba31bd68ca" providerId="LiveId" clId="{47C3562C-7365-457F-8BA3-C6A767D26620}" dt="2026-03-25T04:24:41.811" v="7" actId="20577"/>
          <ac:spMkLst>
            <pc:docMk/>
            <pc:sldMk cId="0" sldId="257"/>
            <ac:spMk id="3" creationId="{837E9E58-77B6-079D-9D0D-E380CADAD23D}"/>
          </ac:spMkLst>
        </pc:spChg>
      </pc:sldChg>
      <pc:sldChg chg="addSp modSp mod">
        <pc:chgData name="Sk Mansoor" userId="ae84e7ba31bd68ca" providerId="LiveId" clId="{47C3562C-7365-457F-8BA3-C6A767D26620}" dt="2026-03-25T05:33:39.159" v="9" actId="14100"/>
        <pc:sldMkLst>
          <pc:docMk/>
          <pc:sldMk cId="1998101144" sldId="266"/>
        </pc:sldMkLst>
        <pc:picChg chg="add mod">
          <ac:chgData name="Sk Mansoor" userId="ae84e7ba31bd68ca" providerId="LiveId" clId="{47C3562C-7365-457F-8BA3-C6A767D26620}" dt="2026-03-25T05:33:39.159" v="9" actId="14100"/>
          <ac:picMkLst>
            <pc:docMk/>
            <pc:sldMk cId="1998101144" sldId="266"/>
            <ac:picMk id="3" creationId="{2134B741-1212-1EFA-9F3E-8E40931F5738}"/>
          </ac:picMkLst>
        </pc:picChg>
      </pc:sldChg>
      <pc:sldChg chg="del">
        <pc:chgData name="Sk Mansoor" userId="ae84e7ba31bd68ca" providerId="LiveId" clId="{47C3562C-7365-457F-8BA3-C6A767D26620}" dt="2026-03-25T05:36:46.464" v="33" actId="47"/>
        <pc:sldMkLst>
          <pc:docMk/>
          <pc:sldMk cId="47544820" sldId="267"/>
        </pc:sldMkLst>
      </pc:sldChg>
      <pc:sldChg chg="add del">
        <pc:chgData name="Sk Mansoor" userId="ae84e7ba31bd68ca" providerId="LiveId" clId="{47C3562C-7365-457F-8BA3-C6A767D26620}" dt="2026-03-25T05:36:51.943" v="36" actId="47"/>
        <pc:sldMkLst>
          <pc:docMk/>
          <pc:sldMk cId="84889951" sldId="268"/>
        </pc:sldMkLst>
      </pc:sldChg>
      <pc:sldChg chg="addSp modSp mod">
        <pc:chgData name="Sk Mansoor" userId="ae84e7ba31bd68ca" providerId="LiveId" clId="{47C3562C-7365-457F-8BA3-C6A767D26620}" dt="2026-03-25T05:36:42.188" v="32" actId="14100"/>
        <pc:sldMkLst>
          <pc:docMk/>
          <pc:sldMk cId="3981187392" sldId="269"/>
        </pc:sldMkLst>
        <pc:spChg chg="mod">
          <ac:chgData name="Sk Mansoor" userId="ae84e7ba31bd68ca" providerId="LiveId" clId="{47C3562C-7365-457F-8BA3-C6A767D26620}" dt="2026-03-25T05:36:13.220" v="27" actId="20577"/>
          <ac:spMkLst>
            <pc:docMk/>
            <pc:sldMk cId="3981187392" sldId="269"/>
            <ac:spMk id="44" creationId="{746F2C30-13B1-3754-C147-D58A899BC459}"/>
          </ac:spMkLst>
        </pc:spChg>
        <pc:picChg chg="add mod">
          <ac:chgData name="Sk Mansoor" userId="ae84e7ba31bd68ca" providerId="LiveId" clId="{47C3562C-7365-457F-8BA3-C6A767D26620}" dt="2026-03-25T05:36:42.188" v="32" actId="14100"/>
          <ac:picMkLst>
            <pc:docMk/>
            <pc:sldMk cId="3981187392" sldId="269"/>
            <ac:picMk id="3" creationId="{8109CF19-4B40-19B2-A1FF-2CF71A25D933}"/>
          </ac:picMkLst>
        </pc:picChg>
      </pc:sldChg>
      <pc:sldChg chg="addSp add mod">
        <pc:chgData name="Sk Mansoor" userId="ae84e7ba31bd68ca" providerId="LiveId" clId="{47C3562C-7365-457F-8BA3-C6A767D26620}" dt="2026-03-25T05:34:33.231" v="13" actId="22"/>
        <pc:sldMkLst>
          <pc:docMk/>
          <pc:sldMk cId="2698469821" sldId="271"/>
        </pc:sldMkLst>
        <pc:picChg chg="add">
          <ac:chgData name="Sk Mansoor" userId="ae84e7ba31bd68ca" providerId="LiveId" clId="{47C3562C-7365-457F-8BA3-C6A767D26620}" dt="2026-03-25T05:34:33.231" v="13" actId="22"/>
          <ac:picMkLst>
            <pc:docMk/>
            <pc:sldMk cId="2698469821" sldId="271"/>
            <ac:picMk id="4" creationId="{C64D1FC8-51B0-30FA-6918-E76F3A3EE68F}"/>
          </ac:picMkLst>
        </pc:picChg>
      </pc:sldChg>
      <pc:sldChg chg="addSp delSp modSp add mod setBg">
        <pc:chgData name="Sk Mansoor" userId="ae84e7ba31bd68ca" providerId="LiveId" clId="{47C3562C-7365-457F-8BA3-C6A767D26620}" dt="2026-03-25T05:35:29.891" v="19" actId="14100"/>
        <pc:sldMkLst>
          <pc:docMk/>
          <pc:sldMk cId="3672200136" sldId="272"/>
        </pc:sldMkLst>
        <pc:picChg chg="del">
          <ac:chgData name="Sk Mansoor" userId="ae84e7ba31bd68ca" providerId="LiveId" clId="{47C3562C-7365-457F-8BA3-C6A767D26620}" dt="2026-03-25T05:34:37.678" v="14" actId="478"/>
          <ac:picMkLst>
            <pc:docMk/>
            <pc:sldMk cId="3672200136" sldId="272"/>
            <ac:picMk id="3" creationId="{7806F900-5F09-8D58-98DC-460AC573FEFD}"/>
          </ac:picMkLst>
        </pc:picChg>
        <pc:picChg chg="add mod">
          <ac:chgData name="Sk Mansoor" userId="ae84e7ba31bd68ca" providerId="LiveId" clId="{47C3562C-7365-457F-8BA3-C6A767D26620}" dt="2026-03-25T05:35:29.891" v="19" actId="14100"/>
          <ac:picMkLst>
            <pc:docMk/>
            <pc:sldMk cId="3672200136" sldId="272"/>
            <ac:picMk id="4" creationId="{EB7D2739-4BE8-1F58-9CF9-477B8DDBF858}"/>
          </ac:picMkLst>
        </pc:picChg>
      </pc:sldChg>
      <pc:sldChg chg="addSp delSp modSp add mod setBg">
        <pc:chgData name="Sk Mansoor" userId="ae84e7ba31bd68ca" providerId="LiveId" clId="{47C3562C-7365-457F-8BA3-C6A767D26620}" dt="2026-03-25T05:36:02.616" v="26" actId="14100"/>
        <pc:sldMkLst>
          <pc:docMk/>
          <pc:sldMk cId="2927074415" sldId="273"/>
        </pc:sldMkLst>
        <pc:picChg chg="del">
          <ac:chgData name="Sk Mansoor" userId="ae84e7ba31bd68ca" providerId="LiveId" clId="{47C3562C-7365-457F-8BA3-C6A767D26620}" dt="2026-03-25T05:35:36.362" v="20" actId="478"/>
          <ac:picMkLst>
            <pc:docMk/>
            <pc:sldMk cId="2927074415" sldId="273"/>
            <ac:picMk id="3" creationId="{9E3CBE38-19D2-378D-A2F5-B806F9A14249}"/>
          </ac:picMkLst>
        </pc:picChg>
        <pc:picChg chg="add mod">
          <ac:chgData name="Sk Mansoor" userId="ae84e7ba31bd68ca" providerId="LiveId" clId="{47C3562C-7365-457F-8BA3-C6A767D26620}" dt="2026-03-25T05:36:02.616" v="26" actId="14100"/>
          <ac:picMkLst>
            <pc:docMk/>
            <pc:sldMk cId="2927074415" sldId="273"/>
            <ac:picMk id="4" creationId="{3ABC1B71-C93B-E4CD-B0A0-3C81C8D404F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1" name="TextBox 21"/>
          <p:cNvSpPr txBox="1"/>
          <p:nvPr/>
        </p:nvSpPr>
        <p:spPr>
          <a:xfrm>
            <a:off x="-8934997" y="-738931"/>
            <a:ext cx="8932970" cy="9319492"/>
          </a:xfrm>
          <a:prstGeom prst="rect">
            <a:avLst/>
          </a:prstGeom>
        </p:spPr>
        <p:txBody>
          <a:bodyPr lIns="50800" tIns="50800" rIns="50800" bIns="50800" rtlCol="0" anchor="ctr"/>
          <a:lstStyle/>
          <a:p>
            <a:pPr algn="ctr">
              <a:lnSpc>
                <a:spcPts val="2659"/>
              </a:lnSpc>
            </a:pPr>
            <a:endParaRPr/>
          </a:p>
        </p:txBody>
      </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25-03-2026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latin typeface="Times New Roman" panose="02020603050405020304" pitchFamily="18" charset="0"/>
                <a:cs typeface="Times New Roman" panose="02020603050405020304" pitchFamily="18" charset="0"/>
              </a:rPr>
              <a:t> Full-Stack Skill Learning Academy </a:t>
            </a:r>
            <a:r>
              <a:rPr lang="en-US" sz="3200" dirty="0" err="1">
                <a:latin typeface="Times New Roman" panose="02020603050405020304" pitchFamily="18" charset="0"/>
                <a:cs typeface="Times New Roman" panose="02020603050405020304" pitchFamily="18" charset="0"/>
              </a:rPr>
              <a:t>MarketPlace</a:t>
            </a:r>
            <a:r>
              <a:rPr lang="en-US" sz="3200" dirty="0">
                <a:latin typeface="Times New Roman" panose="02020603050405020304" pitchFamily="18" charset="0"/>
                <a:cs typeface="Times New Roman" panose="02020603050405020304" pitchFamily="18" charset="0"/>
              </a:rPr>
              <a:t> With Secure Authentication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Shaik Mansoor – VTU26005 – </a:t>
            </a:r>
            <a:r>
              <a:rPr lang="en-US" sz="3000" dirty="0" err="1">
                <a:latin typeface="Cambria" panose="02040503050406030204" pitchFamily="18" charset="0"/>
                <a:ea typeface="Cambria" panose="02040503050406030204" pitchFamily="18" charset="0"/>
              </a:rPr>
              <a:t>Reg.No</a:t>
            </a:r>
            <a:r>
              <a:rPr lang="en-US" sz="3000" dirty="0">
                <a:latin typeface="Cambria" panose="02040503050406030204" pitchFamily="18" charset="0"/>
                <a:ea typeface="Cambria" panose="02040503050406030204" pitchFamily="18" charset="0"/>
              </a:rPr>
              <a:t>. 23UECS1202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 I, M.E. , Ph.D. ,</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7478970"/>
          </a:xfrm>
          <a:prstGeom prst="rect">
            <a:avLst/>
          </a:prstGeom>
          <a:noFill/>
        </p:spPr>
        <p:txBody>
          <a:bodyPr wrap="square" rtlCol="0">
            <a:sp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Online learning platforms are growing </a:t>
            </a:r>
            <a:r>
              <a:rPr lang="en-US" sz="3200" dirty="0" err="1">
                <a:latin typeface="Times New Roman" panose="02020603050405020304" pitchFamily="18" charset="0"/>
                <a:cs typeface="Times New Roman" panose="02020603050405020304" pitchFamily="18" charset="0"/>
              </a:rPr>
              <a:t>rapidly.Many</a:t>
            </a:r>
            <a:r>
              <a:rPr lang="en-US" sz="3200" dirty="0">
                <a:latin typeface="Times New Roman" panose="02020603050405020304" pitchFamily="18" charset="0"/>
                <a:cs typeface="Times New Roman" panose="02020603050405020304" pitchFamily="18" charset="0"/>
              </a:rPr>
              <a:t> students depend on digital platforms for education.</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Many systems lack structured learning </a:t>
            </a:r>
            <a:r>
              <a:rPr lang="en-US" sz="3200" dirty="0" err="1">
                <a:latin typeface="Times New Roman" panose="02020603050405020304" pitchFamily="18" charset="0"/>
                <a:cs typeface="Times New Roman" panose="02020603050405020304" pitchFamily="18" charset="0"/>
              </a:rPr>
              <a:t>paths.Users</a:t>
            </a:r>
            <a:r>
              <a:rPr lang="en-US" sz="3200" dirty="0">
                <a:latin typeface="Times New Roman" panose="02020603050405020304" pitchFamily="18" charset="0"/>
                <a:cs typeface="Times New Roman" panose="02020603050405020304" pitchFamily="18" charset="0"/>
              </a:rPr>
              <a:t> can access any content without proper order.</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Users often skip basics and face </a:t>
            </a:r>
            <a:r>
              <a:rPr lang="en-US" sz="3200" dirty="0" err="1">
                <a:latin typeface="Times New Roman" panose="02020603050405020304" pitchFamily="18" charset="0"/>
                <a:cs typeface="Times New Roman" panose="02020603050405020304" pitchFamily="18" charset="0"/>
              </a:rPr>
              <a:t>difficulties.This</a:t>
            </a:r>
            <a:r>
              <a:rPr lang="en-US" sz="3200" dirty="0">
                <a:latin typeface="Times New Roman" panose="02020603050405020304" pitchFamily="18" charset="0"/>
                <a:cs typeface="Times New Roman" panose="02020603050405020304" pitchFamily="18" charset="0"/>
              </a:rPr>
              <a:t> leads to weak understanding of advanced topics.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Need for controlled and guided learning </a:t>
            </a:r>
            <a:r>
              <a:rPr lang="en-US" sz="3200" dirty="0" err="1">
                <a:latin typeface="Times New Roman" panose="02020603050405020304" pitchFamily="18" charset="0"/>
                <a:cs typeface="Times New Roman" panose="02020603050405020304" pitchFamily="18" charset="0"/>
              </a:rPr>
              <a:t>system.A</a:t>
            </a:r>
            <a:r>
              <a:rPr lang="en-US" sz="3200" dirty="0">
                <a:latin typeface="Times New Roman" panose="02020603050405020304" pitchFamily="18" charset="0"/>
                <a:cs typeface="Times New Roman" panose="02020603050405020304" pitchFamily="18" charset="0"/>
              </a:rPr>
              <a:t> step-by-step learning approach is required.</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Project provides step-by-step course </a:t>
            </a:r>
            <a:r>
              <a:rPr lang="en-US" sz="3200" dirty="0" err="1">
                <a:latin typeface="Times New Roman" panose="02020603050405020304" pitchFamily="18" charset="0"/>
                <a:cs typeface="Times New Roman" panose="02020603050405020304" pitchFamily="18" charset="0"/>
              </a:rPr>
              <a:t>progression.Ensures</a:t>
            </a:r>
            <a:r>
              <a:rPr lang="en-US" sz="3200" dirty="0">
                <a:latin typeface="Times New Roman" panose="02020603050405020304" pitchFamily="18" charset="0"/>
                <a:cs typeface="Times New Roman" panose="02020603050405020304" pitchFamily="18" charset="0"/>
              </a:rPr>
              <a:t> users follow proper learning sequence.</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Uses secure authentication with </a:t>
            </a:r>
            <a:r>
              <a:rPr lang="en-US" sz="3200" dirty="0" err="1">
                <a:latin typeface="Times New Roman" panose="02020603050405020304" pitchFamily="18" charset="0"/>
                <a:cs typeface="Times New Roman" panose="02020603050405020304" pitchFamily="18" charset="0"/>
              </a:rPr>
              <a:t>Firebase.Provides</a:t>
            </a:r>
            <a:r>
              <a:rPr lang="en-US" sz="3200" dirty="0">
                <a:latin typeface="Times New Roman" panose="02020603050405020304" pitchFamily="18" charset="0"/>
                <a:cs typeface="Times New Roman" panose="02020603050405020304" pitchFamily="18" charset="0"/>
              </a:rPr>
              <a:t> reliable and industry-level login system.</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Tracks user progress </a:t>
            </a:r>
            <a:r>
              <a:rPr lang="en-US" sz="3200" dirty="0" err="1">
                <a:latin typeface="Times New Roman" panose="02020603050405020304" pitchFamily="18" charset="0"/>
                <a:cs typeface="Times New Roman" panose="02020603050405020304" pitchFamily="18" charset="0"/>
              </a:rPr>
              <a:t>effectively.Helps</a:t>
            </a:r>
            <a:r>
              <a:rPr lang="en-US" sz="3200" dirty="0">
                <a:latin typeface="Times New Roman" panose="02020603050405020304" pitchFamily="18" charset="0"/>
                <a:cs typeface="Times New Roman" panose="02020603050405020304" pitchFamily="18" charset="0"/>
              </a:rPr>
              <a:t> users monitor their course completion status.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Provides premium-based advanced </a:t>
            </a:r>
            <a:r>
              <a:rPr lang="en-US" sz="3200" dirty="0" err="1">
                <a:latin typeface="Times New Roman" panose="02020603050405020304" pitchFamily="18" charset="0"/>
                <a:cs typeface="Times New Roman" panose="02020603050405020304" pitchFamily="18" charset="0"/>
              </a:rPr>
              <a:t>learning.Advanced</a:t>
            </a:r>
            <a:r>
              <a:rPr lang="en-US" sz="3200" dirty="0">
                <a:latin typeface="Times New Roman" panose="02020603050405020304" pitchFamily="18" charset="0"/>
                <a:cs typeface="Times New Roman" panose="02020603050405020304" pitchFamily="18" charset="0"/>
              </a:rPr>
              <a:t> courses are unlocked through premium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2218730"/>
          </a:xfrm>
          <a:prstGeom prst="rect">
            <a:avLst/>
          </a:prstGeom>
          <a:noFill/>
        </p:spPr>
        <p:txBody>
          <a:bodyPr wrap="square" rtlCol="0">
            <a:spAutoFit/>
          </a:bodyPr>
          <a:lstStyle/>
          <a:p>
            <a:pPr algn="just"/>
            <a:r>
              <a:rPr lang="en-US" sz="3200" dirty="0"/>
              <a:t>The existing online learning systems lack a structured and effective approach to guide users through the learning process. Many platforms do not enforce a proper learning sequence, allowing users to jump directly to advanced topics without completing the basics, which reduces understanding, clarity, and overall learning effectiveness. Additionally, there is a lack of proper progress tracking mechanisms, making it difficult to monitor completed courses and user advancement. Most systems also do not include a structured course unlocking feature, resulting in all content being freely accessible without any logical progression. Furthermore, manual processes in such systems are inefficient, requiring more effort and lacking automation. Security is another concern, as many platforms do not integrate strong authentication methods, leading to potential risks. Therefore, there is a need for an automated and intelligent learning platform that ensures a guided learning path, secure access, proper tracking, and an improved user learning experience with better engagement and understanding.</a:t>
            </a:r>
            <a:endParaRPr lang="en-US" sz="32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To design and develop a structured learning </a:t>
            </a:r>
            <a:r>
              <a:rPr lang="en-US" sz="3200" dirty="0" err="1">
                <a:latin typeface="Times New Roman" panose="02020603050405020304" pitchFamily="18" charset="0"/>
                <a:cs typeface="Times New Roman" panose="02020603050405020304" pitchFamily="18" charset="0"/>
              </a:rPr>
              <a:t>platform.Create</a:t>
            </a:r>
            <a:r>
              <a:rPr lang="en-US" sz="3200" dirty="0">
                <a:latin typeface="Times New Roman" panose="02020603050405020304" pitchFamily="18" charset="0"/>
                <a:cs typeface="Times New Roman" panose="02020603050405020304" pitchFamily="18" charset="0"/>
              </a:rPr>
              <a:t> a system that enforces step-by-step learning.</a:t>
            </a: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sz="32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To implement secure authentication and course </a:t>
            </a:r>
            <a:r>
              <a:rPr lang="en-US" sz="3200" dirty="0" err="1">
                <a:latin typeface="Times New Roman" panose="02020603050405020304" pitchFamily="18" charset="0"/>
                <a:cs typeface="Times New Roman" panose="02020603050405020304" pitchFamily="18" charset="0"/>
              </a:rPr>
              <a:t>progression.Ensure</a:t>
            </a:r>
            <a:r>
              <a:rPr lang="en-US" sz="3200" dirty="0">
                <a:latin typeface="Times New Roman" panose="02020603050405020304" pitchFamily="18" charset="0"/>
                <a:cs typeface="Times New Roman" panose="02020603050405020304" pitchFamily="18" charset="0"/>
              </a:rPr>
              <a:t> safe login and controlled course access.</a:t>
            </a:r>
          </a:p>
          <a:p>
            <a:pPr marL="457200" indent="-457200">
              <a:buFontTx/>
              <a:buChar char="-"/>
            </a:pP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400" y="2475171"/>
            <a:ext cx="15082325" cy="5447645"/>
          </a:xfrm>
          <a:prstGeom prst="rect">
            <a:avLst/>
          </a:prstGeom>
          <a:noFill/>
        </p:spPr>
        <p:txBody>
          <a:bodyPr wrap="square" rtlCol="0">
            <a:spAutoFit/>
          </a:bodyPr>
          <a:lstStyle/>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Provides user registration and login using </a:t>
            </a:r>
            <a:r>
              <a:rPr lang="en-US" sz="3200" dirty="0" err="1">
                <a:latin typeface="Times New Roman" panose="02020603050405020304" pitchFamily="18" charset="0"/>
                <a:cs typeface="Times New Roman" panose="02020603050405020304" pitchFamily="18" charset="0"/>
              </a:rPr>
              <a:t>Firebase.Ensures</a:t>
            </a:r>
            <a:r>
              <a:rPr lang="en-US" sz="3200" dirty="0">
                <a:latin typeface="Times New Roman" panose="02020603050405020304" pitchFamily="18" charset="0"/>
                <a:cs typeface="Times New Roman" panose="02020603050405020304" pitchFamily="18" charset="0"/>
              </a:rPr>
              <a:t> secure and reliable authentication process.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Allows users to enroll in </a:t>
            </a:r>
            <a:r>
              <a:rPr lang="en-US" sz="3200" dirty="0" err="1">
                <a:latin typeface="Times New Roman" panose="02020603050405020304" pitchFamily="18" charset="0"/>
                <a:cs typeface="Times New Roman" panose="02020603050405020304" pitchFamily="18" charset="0"/>
              </a:rPr>
              <a:t>courses.Users</a:t>
            </a:r>
            <a:r>
              <a:rPr lang="en-US" sz="3200" dirty="0">
                <a:latin typeface="Times New Roman" panose="02020603050405020304" pitchFamily="18" charset="0"/>
                <a:cs typeface="Times New Roman" panose="02020603050405020304" pitchFamily="18" charset="0"/>
              </a:rPr>
              <a:t> can select and start learning easily.</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Tracks course completion </a:t>
            </a:r>
            <a:r>
              <a:rPr lang="en-US" sz="3200" dirty="0" err="1">
                <a:latin typeface="Times New Roman" panose="02020603050405020304" pitchFamily="18" charset="0"/>
                <a:cs typeface="Times New Roman" panose="02020603050405020304" pitchFamily="18" charset="0"/>
              </a:rPr>
              <a:t>status.Maintains</a:t>
            </a:r>
            <a:r>
              <a:rPr lang="en-US" sz="3200" dirty="0">
                <a:latin typeface="Times New Roman" panose="02020603050405020304" pitchFamily="18" charset="0"/>
                <a:cs typeface="Times New Roman" panose="02020603050405020304" pitchFamily="18" charset="0"/>
              </a:rPr>
              <a:t> record of completed courses.</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Restricts access to advanced </a:t>
            </a:r>
            <a:r>
              <a:rPr lang="en-US" sz="3200" dirty="0" err="1">
                <a:latin typeface="Times New Roman" panose="02020603050405020304" pitchFamily="18" charset="0"/>
                <a:cs typeface="Times New Roman" panose="02020603050405020304" pitchFamily="18" charset="0"/>
              </a:rPr>
              <a:t>courses.Prevents</a:t>
            </a:r>
            <a:r>
              <a:rPr lang="en-US" sz="3200" dirty="0">
                <a:latin typeface="Times New Roman" panose="02020603050405020304" pitchFamily="18" charset="0"/>
                <a:cs typeface="Times New Roman" panose="02020603050405020304" pitchFamily="18" charset="0"/>
              </a:rPr>
              <a:t> users from skipping basic learning.</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Unlocks advanced courses after basic </a:t>
            </a:r>
            <a:r>
              <a:rPr lang="en-US" sz="3200" dirty="0" err="1">
                <a:latin typeface="Times New Roman" panose="02020603050405020304" pitchFamily="18" charset="0"/>
                <a:cs typeface="Times New Roman" panose="02020603050405020304" pitchFamily="18" charset="0"/>
              </a:rPr>
              <a:t>completion.Ensures</a:t>
            </a:r>
            <a:r>
              <a:rPr lang="en-US" sz="3200" dirty="0">
                <a:latin typeface="Times New Roman" panose="02020603050405020304" pitchFamily="18" charset="0"/>
                <a:cs typeface="Times New Roman" panose="02020603050405020304" pitchFamily="18" charset="0"/>
              </a:rPr>
              <a:t> proper knowledge flow.</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Includes premium feature for advanced </a:t>
            </a:r>
            <a:r>
              <a:rPr lang="en-US" sz="3200" dirty="0" err="1">
                <a:latin typeface="Times New Roman" panose="02020603050405020304" pitchFamily="18" charset="0"/>
                <a:cs typeface="Times New Roman" panose="02020603050405020304" pitchFamily="18" charset="0"/>
              </a:rPr>
              <a:t>access.Adds</a:t>
            </a:r>
            <a:r>
              <a:rPr lang="en-US" sz="3200" dirty="0">
                <a:latin typeface="Times New Roman" panose="02020603050405020304" pitchFamily="18" charset="0"/>
                <a:cs typeface="Times New Roman" panose="02020603050405020304" pitchFamily="18" charset="0"/>
              </a:rPr>
              <a:t> additional control for advanced content.</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Stores user data securely in </a:t>
            </a:r>
            <a:r>
              <a:rPr lang="en-US" sz="3200" dirty="0" err="1">
                <a:latin typeface="Times New Roman" panose="02020603050405020304" pitchFamily="18" charset="0"/>
                <a:cs typeface="Times New Roman" panose="02020603050405020304" pitchFamily="18" charset="0"/>
              </a:rPr>
              <a:t>database.Maintains</a:t>
            </a:r>
            <a:r>
              <a:rPr lang="en-US" sz="3200" dirty="0">
                <a:latin typeface="Times New Roman" panose="02020603050405020304" pitchFamily="18" charset="0"/>
                <a:cs typeface="Times New Roman" panose="02020603050405020304" pitchFamily="18" charset="0"/>
              </a:rPr>
              <a:t> data integrity and safety.</a:t>
            </a:r>
          </a:p>
          <a:p>
            <a:pPr marL="514350" indent="-514350" algn="just">
              <a:buFont typeface="+mj-lt"/>
              <a:buAutoNum type="arabicPeriod"/>
            </a:pPr>
            <a:r>
              <a:rPr lang="en-US" sz="3200" dirty="0">
                <a:latin typeface="Times New Roman" panose="02020603050405020304" pitchFamily="18" charset="0"/>
                <a:cs typeface="Times New Roman" panose="02020603050405020304" pitchFamily="18" charset="0"/>
              </a:rPr>
              <a:t>Improves learning efficiency and </a:t>
            </a:r>
            <a:r>
              <a:rPr lang="en-US" sz="3200" dirty="0" err="1">
                <a:latin typeface="Times New Roman" panose="02020603050405020304" pitchFamily="18" charset="0"/>
                <a:cs typeface="Times New Roman" panose="02020603050405020304" pitchFamily="18" charset="0"/>
              </a:rPr>
              <a:t>structure.Provides</a:t>
            </a:r>
            <a:r>
              <a:rPr lang="en-US" sz="3200" dirty="0">
                <a:latin typeface="Times New Roman" panose="02020603050405020304" pitchFamily="18" charset="0"/>
                <a:cs typeface="Times New Roman" panose="02020603050405020304" pitchFamily="18" charset="0"/>
              </a:rPr>
              <a:t> better user experience.</a:t>
            </a:r>
          </a:p>
          <a:p>
            <a:pPr marL="457200" indent="-457200" algn="just">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0741394" y="2167642"/>
            <a:ext cx="7541163" cy="8525411"/>
          </a:xfrm>
          <a:prstGeom prst="rect">
            <a:avLst/>
          </a:prstGeom>
          <a:noFill/>
        </p:spPr>
        <p:txBody>
          <a:bodyPr wrap="square" rtlCol="0">
            <a:spAutoFit/>
          </a:bodyPr>
          <a:lstStyle/>
          <a:p>
            <a:r>
              <a:rPr lang="en-US" sz="2400" b="1" dirty="0"/>
              <a:t>Input:</a:t>
            </a:r>
            <a:r>
              <a:rPr lang="en-US" sz="2400" dirty="0"/>
              <a:t> User login (Admin, Lecturer, Student)</a:t>
            </a:r>
            <a:br>
              <a:rPr lang="en-US" sz="2400" dirty="0"/>
            </a:br>
            <a:r>
              <a:rPr lang="en-US" sz="2400" dirty="0"/>
              <a:t>Users enter their credentials through the homepage interface.</a:t>
            </a:r>
          </a:p>
          <a:p>
            <a:r>
              <a:rPr lang="en-US" sz="2400" b="1" dirty="0"/>
              <a:t>Processing:</a:t>
            </a:r>
            <a:r>
              <a:rPr lang="en-US" sz="2400" dirty="0"/>
              <a:t> User authentication and role verification</a:t>
            </a:r>
            <a:br>
              <a:rPr lang="en-US" sz="2400" dirty="0"/>
            </a:br>
            <a:r>
              <a:rPr lang="en-US" sz="2400" dirty="0"/>
              <a:t>The system checks whether the user exists in the database and identifies their role (admin or lecturer/student).</a:t>
            </a:r>
          </a:p>
          <a:p>
            <a:r>
              <a:rPr lang="en-US" sz="2400" b="1" dirty="0"/>
              <a:t>System Functions:</a:t>
            </a:r>
            <a:r>
              <a:rPr lang="en-US" sz="2400" dirty="0"/>
              <a:t> Role-based operations</a:t>
            </a:r>
            <a:br>
              <a:rPr lang="en-US" sz="2400" dirty="0"/>
            </a:br>
            <a:r>
              <a:rPr lang="en-US" sz="2400" dirty="0"/>
              <a:t>Admin can create users, upload/edit/delete data, and manage live streaming.</a:t>
            </a:r>
            <a:br>
              <a:rPr lang="en-US" sz="2400" dirty="0"/>
            </a:br>
            <a:r>
              <a:rPr lang="en-US" sz="2400" dirty="0"/>
              <a:t>Lecturers and students can access the interface, watch live streams, and interact with the system.</a:t>
            </a:r>
          </a:p>
          <a:p>
            <a:r>
              <a:rPr lang="en-US" sz="2400" b="1" dirty="0"/>
              <a:t>Database:</a:t>
            </a:r>
            <a:r>
              <a:rPr lang="en-US" sz="2400" dirty="0"/>
              <a:t> Central database storage</a:t>
            </a:r>
            <a:br>
              <a:rPr lang="en-US" sz="2400" dirty="0"/>
            </a:br>
            <a:r>
              <a:rPr lang="en-US" sz="2400" dirty="0"/>
              <a:t>Stores user details, course data, and system information for retrieval and updates.</a:t>
            </a:r>
          </a:p>
          <a:p>
            <a:r>
              <a:rPr lang="en-US" sz="2400" b="1" dirty="0"/>
              <a:t>Output:</a:t>
            </a:r>
            <a:r>
              <a:rPr lang="en-US" sz="2400" dirty="0"/>
              <a:t> User interface with features</a:t>
            </a:r>
            <a:br>
              <a:rPr lang="en-US" sz="2400" dirty="0"/>
            </a:br>
            <a:r>
              <a:rPr lang="en-US" sz="2400" dirty="0"/>
              <a:t>Displays lecturer/student interface, live streaming, data access, and chat application for communication.</a:t>
            </a:r>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AutoShape 4">
            <a:extLst>
              <a:ext uri="{FF2B5EF4-FFF2-40B4-BE49-F238E27FC236}">
                <a16:creationId xmlns:a16="http://schemas.microsoft.com/office/drawing/2014/main" id="{1E494397-1CBA-D3E3-8A7A-85FD8588FC2E}"/>
              </a:ext>
            </a:extLst>
          </p:cNvPr>
          <p:cNvSpPr>
            <a:spLocks noChangeAspect="1" noChangeArrowheads="1"/>
          </p:cNvSpPr>
          <p:nvPr/>
        </p:nvSpPr>
        <p:spPr bwMode="auto">
          <a:xfrm>
            <a:off x="9144000" y="5331142"/>
            <a:ext cx="564086" cy="5640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 name="Picture 34">
            <a:extLst>
              <a:ext uri="{FF2B5EF4-FFF2-40B4-BE49-F238E27FC236}">
                <a16:creationId xmlns:a16="http://schemas.microsoft.com/office/drawing/2014/main" id="{E5F5F1DE-1945-0928-C641-CABAC4313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00" y="2875760"/>
            <a:ext cx="7983738" cy="47837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0598951" y="2420208"/>
            <a:ext cx="7286319" cy="10433625"/>
          </a:xfrm>
          <a:prstGeom prst="rect">
            <a:avLst/>
          </a:prstGeom>
          <a:noFill/>
        </p:spPr>
        <p:txBody>
          <a:bodyPr wrap="square" rtlCol="0">
            <a:spAutoFit/>
          </a:bodyPr>
          <a:lstStyle/>
          <a:p>
            <a:r>
              <a:rPr lang="en-US" sz="2800" dirty="0"/>
              <a:t>The workflow begins with the launch of the program, leading to the homepage where users log in as admin, lecturer, or student. The system verifies user details from the database and directs them accordingly. Admin users manage system activities such as creating users, uploading or editing data, and broadcasting live streams. Lecturers and students access their interface to view content, watch live streaming through the media server, and download data from the database. Additionally, a chat application is provided for communication, ensuring smooth interaction and efficient system operation</a:t>
            </a:r>
            <a:endParaRPr lang="en-US" sz="2800" dirty="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5649279-318E-C627-F5D5-AA1419D8AE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0151" y="1501285"/>
            <a:ext cx="7286319" cy="69091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3449836"/>
          </a:xfrm>
          <a:prstGeom prst="rect">
            <a:avLst/>
          </a:prstGeom>
          <a:noFill/>
        </p:spPr>
        <p:txBody>
          <a:bodyPr wrap="square" rtlCol="0">
            <a:spAutoFit/>
          </a:bodyPr>
          <a:lstStyle/>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Frontend: HTML, CSS, JavaScript</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to design user interface and interactions.</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Backend: PHP</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Handles server-side logic and processing.</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Authentication: Firebase</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Provides secure and scalable login system.</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Database: MySQL</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Stores user data and course information.</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Scripting: Python</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for token verification process.</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Tools: XAMPP / VS Code</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Used for development and testing.</a:t>
            </a:r>
          </a:p>
          <a:p>
            <a:pPr marL="742950" indent="-742950">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Software Requirements: Web browser</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Required to run and access the system</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90500" y="28630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00948" y="1879785"/>
            <a:ext cx="7683827" cy="9756517"/>
          </a:xfrm>
          <a:prstGeom prst="rect">
            <a:avLst/>
          </a:prstGeom>
          <a:noFill/>
        </p:spPr>
        <p:txBody>
          <a:bodyPr wrap="square" rtlCol="0">
            <a:spAutoFit/>
          </a:bodyPr>
          <a:lstStyle/>
          <a:p>
            <a:endParaRPr lang="en-IN" sz="2800" b="1" dirty="0"/>
          </a:p>
          <a:p>
            <a:r>
              <a:rPr lang="en-US" sz="3600" b="1" dirty="0">
                <a:latin typeface="Times New Roman" panose="02020603050405020304" pitchFamily="18" charset="0"/>
                <a:cs typeface="Times New Roman" panose="02020603050405020304" pitchFamily="18" charset="0"/>
              </a:rPr>
              <a:t>Module 1: User Authentication</a:t>
            </a:r>
          </a:p>
          <a:p>
            <a:r>
              <a:rPr lang="en-US" sz="3600" dirty="0">
                <a:latin typeface="Times New Roman" panose="02020603050405020304" pitchFamily="18" charset="0"/>
                <a:cs typeface="Times New Roman" panose="02020603050405020304" pitchFamily="18" charset="0"/>
              </a:rPr>
              <a:t>Handles user registration and login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Uses Firebase for secure authentication.</a:t>
            </a:r>
          </a:p>
          <a:p>
            <a:r>
              <a:rPr lang="en-US" sz="3600" dirty="0">
                <a:latin typeface="Times New Roman" panose="02020603050405020304" pitchFamily="18" charset="0"/>
                <a:cs typeface="Times New Roman" panose="02020603050405020304" pitchFamily="18" charset="0"/>
              </a:rPr>
              <a:t>Ensures secure user access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Prevents unauthorized login attempts.</a:t>
            </a:r>
          </a:p>
          <a:p>
            <a:r>
              <a:rPr lang="en-US" sz="3600" b="1" dirty="0">
                <a:latin typeface="Times New Roman" panose="02020603050405020304" pitchFamily="18" charset="0"/>
                <a:cs typeface="Times New Roman" panose="02020603050405020304" pitchFamily="18" charset="0"/>
              </a:rPr>
              <a:t>Module 2: Course Management</a:t>
            </a:r>
          </a:p>
          <a:p>
            <a:r>
              <a:rPr lang="en-US" sz="3600" dirty="0">
                <a:latin typeface="Times New Roman" panose="02020603050405020304" pitchFamily="18" charset="0"/>
                <a:cs typeface="Times New Roman" panose="02020603050405020304" pitchFamily="18" charset="0"/>
              </a:rPr>
              <a:t>Displays available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Allows users to select and enroll.</a:t>
            </a:r>
          </a:p>
          <a:p>
            <a:r>
              <a:rPr lang="en-US" sz="3600" dirty="0">
                <a:latin typeface="Times New Roman" panose="02020603050405020304" pitchFamily="18" charset="0"/>
                <a:cs typeface="Times New Roman" panose="02020603050405020304" pitchFamily="18" charset="0"/>
              </a:rPr>
              <a:t>Controls access to advanced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Based on completion and premium status.</a:t>
            </a:r>
          </a:p>
          <a:p>
            <a:br>
              <a:rPr lang="en-US"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a:p>
            <a:endParaRPr lang="en-IN" sz="2800" dirty="0"/>
          </a:p>
          <a:p>
            <a:endParaRPr lang="en-IN" sz="2800" dirty="0"/>
          </a:p>
          <a:p>
            <a:endParaRPr lang="en-IN" sz="2800" dirty="0"/>
          </a:p>
          <a:p>
            <a:endParaRPr lang="en-IN" sz="2800" dirty="0"/>
          </a:p>
          <a:p>
            <a:endParaRPr lang="en-IN" sz="2800" dirty="0"/>
          </a:p>
        </p:txBody>
      </p:sp>
      <p:sp>
        <p:nvSpPr>
          <p:cNvPr id="2" name="TextBox 1">
            <a:extLst>
              <a:ext uri="{FF2B5EF4-FFF2-40B4-BE49-F238E27FC236}">
                <a16:creationId xmlns:a16="http://schemas.microsoft.com/office/drawing/2014/main" id="{695CEF90-BBEF-D52A-749D-7396E87B6456}"/>
              </a:ext>
            </a:extLst>
          </p:cNvPr>
          <p:cNvSpPr txBox="1"/>
          <p:nvPr/>
        </p:nvSpPr>
        <p:spPr>
          <a:xfrm>
            <a:off x="10849369" y="2329725"/>
            <a:ext cx="6558206" cy="6463308"/>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Module 3: Progress Tracking</a:t>
            </a:r>
          </a:p>
          <a:p>
            <a:r>
              <a:rPr lang="en-US" sz="3600" dirty="0">
                <a:latin typeface="Times New Roman" panose="02020603050405020304" pitchFamily="18" charset="0"/>
                <a:cs typeface="Times New Roman" panose="02020603050405020304" pitchFamily="18" charset="0"/>
              </a:rPr>
              <a:t>Tracks completed courses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Updates user progress in database.</a:t>
            </a:r>
          </a:p>
          <a:p>
            <a:r>
              <a:rPr lang="en-US" sz="3600" dirty="0">
                <a:latin typeface="Times New Roman" panose="02020603050405020304" pitchFamily="18" charset="0"/>
                <a:cs typeface="Times New Roman" panose="02020603050405020304" pitchFamily="18" charset="0"/>
              </a:rPr>
              <a:t>Displays progress in dashboard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Helps users monitor learning.</a:t>
            </a:r>
          </a:p>
          <a:p>
            <a:r>
              <a:rPr lang="en-US" sz="3600" b="1" dirty="0">
                <a:latin typeface="Times New Roman" panose="02020603050405020304" pitchFamily="18" charset="0"/>
                <a:cs typeface="Times New Roman" panose="02020603050405020304" pitchFamily="18" charset="0"/>
              </a:rPr>
              <a:t>Module 4: Premium System</a:t>
            </a:r>
          </a:p>
          <a:p>
            <a:r>
              <a:rPr lang="en-US" sz="3600" dirty="0">
                <a:latin typeface="Times New Roman" panose="02020603050405020304" pitchFamily="18" charset="0"/>
                <a:cs typeface="Times New Roman" panose="02020603050405020304" pitchFamily="18" charset="0"/>
              </a:rPr>
              <a:t>Enables advanced course access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Unlocks restricted content.</a:t>
            </a:r>
          </a:p>
          <a:p>
            <a:r>
              <a:rPr lang="en-US" sz="3600" dirty="0">
                <a:latin typeface="Times New Roman" panose="02020603050405020304" pitchFamily="18" charset="0"/>
                <a:cs typeface="Times New Roman" panose="02020603050405020304" pitchFamily="18" charset="0"/>
              </a:rPr>
              <a:t>Simulates premium upgrade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Controls user permissions</a:t>
            </a:r>
          </a:p>
          <a:p>
            <a:r>
              <a:rPr lang="en-US" sz="3600" dirty="0">
                <a:latin typeface="Times New Roman" panose="02020603050405020304" pitchFamily="18" charset="0"/>
                <a:cs typeface="Times New Roman" panose="02020603050405020304" pitchFamily="18" charset="0"/>
              </a:rPr>
              <a:t> effectively</a:t>
            </a:r>
            <a:r>
              <a:rPr lang="en-US" dirty="0">
                <a:latin typeface="Times New Roman" panose="02020603050405020304" pitchFamily="18" charset="0"/>
                <a:cs typeface="Times New Roman" panose="02020603050405020304" pitchFamily="18" charset="0"/>
              </a:rPr>
              <a:t>.</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134B741-1212-1EFA-9F3E-8E40931F5738}"/>
              </a:ext>
            </a:extLst>
          </p:cNvPr>
          <p:cNvPicPr>
            <a:picLocks noChangeAspect="1"/>
          </p:cNvPicPr>
          <p:nvPr/>
        </p:nvPicPr>
        <p:blipFill>
          <a:blip r:embed="rId4"/>
          <a:stretch>
            <a:fillRect/>
          </a:stretch>
        </p:blipFill>
        <p:spPr>
          <a:xfrm>
            <a:off x="3209096" y="2028390"/>
            <a:ext cx="12564303" cy="623021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6C442EC-887A-A992-621B-59DEBEA471E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412D60E5-87AC-F384-DB50-7BD6D558045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1324240-21A4-2957-55DB-3F1DA6D839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70DAB1EA-A837-353E-5B0B-AB13D39DE5A2}"/>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39C68E2-52CA-A6C1-77D1-17B30EEB691F}"/>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D348E7C1-3BA5-533E-E0C5-5FA14E6390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9ACC2DE2-CCA6-8B0C-8B0B-9594EE012B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CB1A29A-FE17-6B52-E8B9-21A9E1301195}"/>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ADC19F4-CA26-2008-FC7D-3AEA7E69612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F81C5D3B-9783-D2A7-4416-2ECC4F6BBC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9C95A6D6-E248-AB8B-A96E-3E3D107ED169}"/>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75788FB3-AC6C-E09C-B2CA-7302F6297C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D4A155F-C037-E107-DFAA-008E0FC9236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857BF315-985E-14AC-5B83-C995B99EA3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ADEFFBE-3F8A-68FF-FA1F-57FE10719DA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D121C89A-127D-25DF-9509-3E5EE7DE7E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94C3238-ED6E-754D-AE60-D9CAD8A60CC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F9ADDFA-A032-E45E-9909-518EB0E48A1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8271CA6-DAE5-7C2F-EC79-EB80D0758FD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A2C3622E-8C84-7EB7-F317-A0715EFF3698}"/>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52CB4A4-28BA-2B55-3248-BE948BB373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A6D53FD6-07C6-728F-187A-4A04629E3B0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9EC9CE7-9E6B-E4E2-2A95-1ABD856AB76A}"/>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F912708-04C4-5A39-2312-CCE44622BD8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ABAE0B2-4419-BA98-64D5-45E96553F51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263A311-AFBE-59A1-F3D7-EB5B148B0A37}"/>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AC77666C-2636-EC36-3BD6-5C3E836CDD7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3FEEFD31-ED22-46F0-6FF6-15E4CF5CD03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316AEE9-C2DB-0BC6-224B-E592B593F68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3558E4EA-5F63-A067-AAD2-AA40DEE2AC71}"/>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F414F9A9-6A26-A0BD-0D5D-3FCC40B844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1CBA8CA-EED6-1FB9-A820-67E7E16C33C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BAC118C-E4CB-F09D-4E28-51B48EE427E5}"/>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C9950466-1B58-8208-94DC-5C09A97FF67B}"/>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1D68D4F-B6C1-F89C-B378-07ECA8770A93}"/>
              </a:ext>
            </a:extLst>
          </p:cNvPr>
          <p:cNvPicPr>
            <a:picLocks noChangeAspect="1"/>
          </p:cNvPicPr>
          <p:nvPr/>
        </p:nvPicPr>
        <p:blipFill>
          <a:blip r:embed="rId4"/>
          <a:stretch>
            <a:fillRect/>
          </a:stretch>
        </p:blipFill>
        <p:spPr>
          <a:xfrm>
            <a:off x="3209096" y="2028390"/>
            <a:ext cx="12564303" cy="6230219"/>
          </a:xfrm>
          <a:prstGeom prst="rect">
            <a:avLst/>
          </a:prstGeom>
        </p:spPr>
      </p:pic>
      <p:pic>
        <p:nvPicPr>
          <p:cNvPr id="4" name="Picture 3">
            <a:extLst>
              <a:ext uri="{FF2B5EF4-FFF2-40B4-BE49-F238E27FC236}">
                <a16:creationId xmlns:a16="http://schemas.microsoft.com/office/drawing/2014/main" id="{C64D1FC8-51B0-30FA-6918-E76F3A3EE68F}"/>
              </a:ext>
            </a:extLst>
          </p:cNvPr>
          <p:cNvPicPr>
            <a:picLocks noChangeAspect="1"/>
          </p:cNvPicPr>
          <p:nvPr/>
        </p:nvPicPr>
        <p:blipFill>
          <a:blip r:embed="rId5"/>
          <a:stretch>
            <a:fillRect/>
          </a:stretch>
        </p:blipFill>
        <p:spPr>
          <a:xfrm>
            <a:off x="3399623" y="1833100"/>
            <a:ext cx="11488753" cy="6620799"/>
          </a:xfrm>
          <a:prstGeom prst="rect">
            <a:avLst/>
          </a:prstGeom>
        </p:spPr>
      </p:pic>
    </p:spTree>
    <p:extLst>
      <p:ext uri="{BB962C8B-B14F-4D97-AF65-F5344CB8AC3E}">
        <p14:creationId xmlns:p14="http://schemas.microsoft.com/office/powerpoint/2010/main" val="2698469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73E9-FE71-2CAE-CE8A-CD39A34A797C}"/>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93DA9B7-C0CE-1949-BDAE-10ACBCBF94D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F415D002-68BE-52F6-A5BC-54D43D722E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D0DF268E-17B0-65D6-C32A-E6CA40AFB72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D9C16BCA-E82E-7F99-3E5E-D8E211BD8AF0}"/>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1E65ACB3-EC42-1BEB-353D-4B8B4BD127E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5B4406E6-63DF-0193-9DA5-85E56BA3683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6E2D0A1C-716E-1468-A8BE-D76449BC30A5}"/>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E84FB48E-D369-DFE1-1B56-E6401AC8A9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0C9CDE-4D66-DEAF-35BE-6A0CC745D3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AAF7311-F679-5C77-AEA1-30BF6532860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2A05443D-3CB4-655A-5C0F-CFF7E26E744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EA6301AD-1691-F840-26F8-5252E3CB373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C94B3BF-8FF1-33E2-4427-33C030C60A3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9338CBE8-7ADC-507E-BE34-FDB8D5D3DF4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390E2904-67A4-3B4A-7656-5CA8BE62C9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C31CB9D5-3040-B4CF-AEFF-1A792207856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1B1C5F9-9D85-2E02-072A-1913B9B040A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651B4DB-BACC-FE89-CFE1-79502E8039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840AA69-C050-CAF9-0C04-0FFC9BB65218}"/>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449A91D6-DE1B-961F-0E03-BA1E06CC361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E7D92A5-136F-5158-34BA-2E26F8DE1B8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7DE9B5D2-D19D-758C-3B36-E467E667A36C}"/>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7D318ED-1CF3-9CDA-8798-5D777E3343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B4C5B247-4667-564C-71D8-5736A049AA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1E3615E-F233-52D5-3C79-4903CF65C82D}"/>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7C82ADBD-219F-EA12-82EC-560AC61A2C1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6C3A87F1-23AA-969F-680C-696107C43D0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281AE4BE-BEA4-5B71-D067-3238DA2A673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EE199ACF-76BC-761F-57A1-714E94C5E899}"/>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4514D06C-28CD-BF8E-3C25-F1735E756A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21378F6D-2FCD-3AF3-D03E-6AD5863B7DF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F8E5682-C1F7-A176-32A2-FCB0FA9F9F2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A5A0E664-3917-E0BC-F4AA-7C9F1F12134D}"/>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EB7D2739-4BE8-1F58-9CF9-477B8DDBF858}"/>
              </a:ext>
            </a:extLst>
          </p:cNvPr>
          <p:cNvPicPr>
            <a:picLocks noChangeAspect="1"/>
          </p:cNvPicPr>
          <p:nvPr/>
        </p:nvPicPr>
        <p:blipFill>
          <a:blip r:embed="rId4"/>
          <a:stretch>
            <a:fillRect/>
          </a:stretch>
        </p:blipFill>
        <p:spPr>
          <a:xfrm>
            <a:off x="4191000" y="1982349"/>
            <a:ext cx="11430000" cy="6666351"/>
          </a:xfrm>
          <a:prstGeom prst="rect">
            <a:avLst/>
          </a:prstGeom>
        </p:spPr>
      </p:pic>
    </p:spTree>
    <p:extLst>
      <p:ext uri="{BB962C8B-B14F-4D97-AF65-F5344CB8AC3E}">
        <p14:creationId xmlns:p14="http://schemas.microsoft.com/office/powerpoint/2010/main" val="3672200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727AE-E4FC-C029-5DA4-B1413944D910}"/>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6FD5355-8FE5-8847-4AD5-027FD588FDD5}"/>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135FBD20-B6FA-A6A1-58D5-F95F1AC67F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D3378125-F987-79AB-3C56-1E5AC6D8FEED}"/>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B4C706F3-83ED-406D-01B7-D7A0621A3E0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5F6CFEE-F9AD-E28B-0093-F41F90A948A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92FBDC52-0043-C14C-1809-E80F9250AA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83F3F7B-F1B7-4BC9-8DB5-1C61FA6D114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21374D83-D1D4-D555-9D08-419700135F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8F5B1A9F-CFC7-C54E-AF2A-BD931CFF25C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FC2F838-8DFC-432E-6A27-DF74CBB16245}"/>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C07B77B-E2CC-AE82-AD24-A54461AC28C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8AEE76-8640-F367-D56C-0E176BEBBAA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CA6258D2-E384-8AAC-EFFB-23C653CF0C41}"/>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93BFB3BC-160D-B321-6BCC-8770C75CFE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DC0C4E04-E52E-AA80-2CC5-8E5440CCF67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6C3D004-99BC-28E1-56F6-14EF6FC5AAE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C3ECE9E9-B9E4-5379-DB76-F29EED21E6E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EDE8D3C8-98DB-9E53-5E14-9E6CDE1FC89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2017817C-EA7B-7DFC-5586-656F40DA353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607C0144-8480-37EB-3040-49559EFCAC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128D0804-DC6F-D75C-C0AD-46F864ABA02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39E100DA-AAB3-77EE-6F1B-A40901F9D9A3}"/>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38A51D3C-CCB8-5AED-6F45-8B3DDF980F9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642A55E-DB73-6C01-ED8C-4ECAF16F28D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C1CC69C0-2A95-5F72-0CFF-8C8CE92006DB}"/>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D332BD0-34BB-99FF-1847-AE2646273F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FA5FB851-74EB-BE70-69A3-E8A04D3199C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3AC44E6-14A1-74E5-55EB-19B1D2BA78D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EA1D50FE-EB67-B6AB-3202-9C491008A62D}"/>
              </a:ext>
            </a:extLst>
          </p:cNvPr>
          <p:cNvGrpSpPr/>
          <p:nvPr/>
        </p:nvGrpSpPr>
        <p:grpSpPr>
          <a:xfrm>
            <a:off x="19354800" y="1982349"/>
            <a:ext cx="10994424" cy="10994424"/>
            <a:chOff x="0" y="0"/>
            <a:chExt cx="812800" cy="812800"/>
          </a:xfrm>
        </p:grpSpPr>
        <p:sp>
          <p:nvSpPr>
            <p:cNvPr id="36" name="Freeform 36">
              <a:extLst>
                <a:ext uri="{FF2B5EF4-FFF2-40B4-BE49-F238E27FC236}">
                  <a16:creationId xmlns:a16="http://schemas.microsoft.com/office/drawing/2014/main" id="{6F90F2D6-37D1-D241-453C-E6A7D7F4D2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5A65392-4481-F7C1-482C-5C0B8F3F3C3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4002634-90D3-FD65-0D7B-1EF0F64994D9}"/>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B3513CD-BFEA-02A6-EE9F-36CBFDFCA5B9}"/>
              </a:ext>
            </a:extLst>
          </p:cNvPr>
          <p:cNvSpPr txBox="1"/>
          <p:nvPr/>
        </p:nvSpPr>
        <p:spPr>
          <a:xfrm>
            <a:off x="2209800" y="1638300"/>
            <a:ext cx="15082325" cy="5693866"/>
          </a:xfrm>
          <a:prstGeom prst="rect">
            <a:avLst/>
          </a:prstGeom>
          <a:noFill/>
        </p:spPr>
        <p:txBody>
          <a:bodyPr wrap="square" rtlCol="0">
            <a:spAutoFit/>
          </a:bodyPr>
          <a:lstStyle/>
          <a:p>
            <a:pPr marL="457200" indent="-457200">
              <a:buFontTx/>
              <a:buChar char="-"/>
            </a:pP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ABC1B71-C93B-E4CD-B0A0-3C81C8D404F5}"/>
              </a:ext>
            </a:extLst>
          </p:cNvPr>
          <p:cNvPicPr>
            <a:picLocks noChangeAspect="1"/>
          </p:cNvPicPr>
          <p:nvPr/>
        </p:nvPicPr>
        <p:blipFill>
          <a:blip r:embed="rId4"/>
          <a:stretch>
            <a:fillRect/>
          </a:stretch>
        </p:blipFill>
        <p:spPr>
          <a:xfrm>
            <a:off x="3048000" y="1638300"/>
            <a:ext cx="12801600" cy="6324600"/>
          </a:xfrm>
          <a:prstGeom prst="rect">
            <a:avLst/>
          </a:prstGeom>
        </p:spPr>
      </p:pic>
    </p:spTree>
    <p:extLst>
      <p:ext uri="{BB962C8B-B14F-4D97-AF65-F5344CB8AC3E}">
        <p14:creationId xmlns:p14="http://schemas.microsoft.com/office/powerpoint/2010/main" val="2927074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24155400" y="489052"/>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109CF19-4B40-19B2-A1FF-2CF71A25D933}"/>
              </a:ext>
            </a:extLst>
          </p:cNvPr>
          <p:cNvPicPr>
            <a:picLocks noChangeAspect="1"/>
          </p:cNvPicPr>
          <p:nvPr/>
        </p:nvPicPr>
        <p:blipFill>
          <a:blip r:embed="rId4"/>
          <a:stretch>
            <a:fillRect/>
          </a:stretch>
        </p:blipFill>
        <p:spPr>
          <a:xfrm>
            <a:off x="3657600" y="2475171"/>
            <a:ext cx="10668000" cy="507814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21183600" y="84391"/>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16D16CA-9905-F01D-1DCD-5FE2E7F39D1C}"/>
              </a:ext>
            </a:extLst>
          </p:cNvPr>
          <p:cNvSpPr txBox="1"/>
          <p:nvPr/>
        </p:nvSpPr>
        <p:spPr>
          <a:xfrm>
            <a:off x="1838027" y="2992712"/>
            <a:ext cx="7741814" cy="7848302"/>
          </a:xfrm>
          <a:prstGeom prst="rect">
            <a:avLst/>
          </a:prstGeom>
          <a:noFill/>
        </p:spPr>
        <p:txBody>
          <a:bodyPr wrap="square">
            <a:spAutoFit/>
          </a:bodyPr>
          <a:lstStyle/>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Secure authentication using Firebase</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Ensures safe and reliable user login.</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Structured learning path</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Prevents skipping of important topics.</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Easy to use interface</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Simple design improves usability.</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Real-time progress tracking</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Keeps users updated with their progress.</a:t>
            </a:r>
          </a:p>
          <a:p>
            <a:pPr marL="742950" indent="-742950" algn="l">
              <a:buFont typeface="+mj-lt"/>
              <a:buAutoNum type="arabicPeriod"/>
            </a:pPr>
            <a:r>
              <a:rPr lang="en-US" sz="3600" b="0" i="0" dirty="0">
                <a:solidFill>
                  <a:srgbClr val="0D0D0D"/>
                </a:solidFill>
                <a:effectLst/>
                <a:latin typeface="Times New Roman" panose="02020603050405020304" pitchFamily="18" charset="0"/>
                <a:cs typeface="Times New Roman" panose="02020603050405020304" pitchFamily="18" charset="0"/>
              </a:rPr>
              <a:t>Scalable system design</a:t>
            </a:r>
            <a:br>
              <a:rPr lang="en-US" sz="3600" b="0" i="0" dirty="0">
                <a:solidFill>
                  <a:srgbClr val="0D0D0D"/>
                </a:solidFill>
                <a:effectLst/>
                <a:latin typeface="Times New Roman" panose="02020603050405020304" pitchFamily="18" charset="0"/>
                <a:cs typeface="Times New Roman" panose="02020603050405020304" pitchFamily="18" charset="0"/>
              </a:rPr>
            </a:br>
            <a:r>
              <a:rPr lang="en-US" sz="3600" b="0" i="0" dirty="0">
                <a:solidFill>
                  <a:srgbClr val="0D0D0D"/>
                </a:solidFill>
                <a:effectLst/>
                <a:latin typeface="Times New Roman" panose="02020603050405020304" pitchFamily="18" charset="0"/>
                <a:cs typeface="Times New Roman" panose="02020603050405020304" pitchFamily="18" charset="0"/>
              </a:rPr>
              <a:t>Can be expanded with more features.</a:t>
            </a:r>
          </a:p>
          <a:p>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DC710E46-499B-C5C2-3828-EB72F5235867}"/>
              </a:ext>
            </a:extLst>
          </p:cNvPr>
          <p:cNvSpPr txBox="1"/>
          <p:nvPr/>
        </p:nvSpPr>
        <p:spPr>
          <a:xfrm>
            <a:off x="3276600" y="2172211"/>
            <a:ext cx="3580019" cy="707886"/>
          </a:xfrm>
          <a:prstGeom prst="rect">
            <a:avLst/>
          </a:prstGeom>
          <a:noFill/>
        </p:spPr>
        <p:txBody>
          <a:bodyPr wrap="none" rtlCol="0">
            <a:spAutoFit/>
          </a:bodyPr>
          <a:lstStyle/>
          <a:p>
            <a:r>
              <a:rPr lang="en-IN" sz="4000" dirty="0">
                <a:latin typeface="Times New Roman" panose="02020603050405020304" pitchFamily="18" charset="0"/>
                <a:cs typeface="Times New Roman" panose="02020603050405020304" pitchFamily="18" charset="0"/>
              </a:rPr>
              <a:t>ADVANTAGES</a:t>
            </a:r>
          </a:p>
        </p:txBody>
      </p:sp>
      <p:sp>
        <p:nvSpPr>
          <p:cNvPr id="36" name="TextBox 35">
            <a:extLst>
              <a:ext uri="{FF2B5EF4-FFF2-40B4-BE49-F238E27FC236}">
                <a16:creationId xmlns:a16="http://schemas.microsoft.com/office/drawing/2014/main" id="{4748A721-C5E8-740A-7AA4-25DB3BF15F6D}"/>
              </a:ext>
            </a:extLst>
          </p:cNvPr>
          <p:cNvSpPr txBox="1"/>
          <p:nvPr/>
        </p:nvSpPr>
        <p:spPr>
          <a:xfrm>
            <a:off x="9931969" y="2996945"/>
            <a:ext cx="8356031" cy="5632311"/>
          </a:xfrm>
          <a:prstGeom prst="rect">
            <a:avLst/>
          </a:prstGeom>
          <a:noFill/>
        </p:spPr>
        <p:txBody>
          <a:bodyPr wrap="square" rtlCol="0">
            <a:spAutoFit/>
          </a:bodyPr>
          <a:lstStyle/>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No real payment gateway integration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Premium feature is only simulated.</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UI is basic and can be improved</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Needs better design and responsiveness.</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No admin panel for course management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Cannot add or edit courses dynamically.</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Limited course content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Needs more learning materials.</a:t>
            </a:r>
          </a:p>
          <a:p>
            <a:pPr marL="514350" indent="-514350">
              <a:buFont typeface="+mj-lt"/>
              <a:buAutoNum type="arabicPeriod"/>
            </a:pPr>
            <a:r>
              <a:rPr lang="en-US" sz="3600" dirty="0">
                <a:latin typeface="Times New Roman" panose="02020603050405020304" pitchFamily="18" charset="0"/>
                <a:cs typeface="Times New Roman" panose="02020603050405020304" pitchFamily="18" charset="0"/>
              </a:rPr>
              <a:t>Depends on internet connectivity</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Cannot work in offline mode.</a:t>
            </a:r>
          </a:p>
        </p:txBody>
      </p:sp>
      <p:sp>
        <p:nvSpPr>
          <p:cNvPr id="38" name="TextBox 37">
            <a:extLst>
              <a:ext uri="{FF2B5EF4-FFF2-40B4-BE49-F238E27FC236}">
                <a16:creationId xmlns:a16="http://schemas.microsoft.com/office/drawing/2014/main" id="{6F064AF7-2B0A-77C7-4CC9-AC9BA3F9EC76}"/>
              </a:ext>
            </a:extLst>
          </p:cNvPr>
          <p:cNvSpPr txBox="1"/>
          <p:nvPr/>
        </p:nvSpPr>
        <p:spPr>
          <a:xfrm>
            <a:off x="11619318" y="2145379"/>
            <a:ext cx="3392082" cy="707886"/>
          </a:xfrm>
          <a:prstGeom prst="rect">
            <a:avLst/>
          </a:prstGeom>
          <a:noFill/>
        </p:spPr>
        <p:txBody>
          <a:bodyPr wrap="none" rtlCol="0">
            <a:spAutoFit/>
          </a:bodyPr>
          <a:lstStyle/>
          <a:p>
            <a:r>
              <a:rPr lang="en-IN" sz="4000"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4162151" y="9093"/>
            <a:ext cx="9963697" cy="9687902"/>
            <a:chOff x="38100" y="20389"/>
            <a:chExt cx="736600" cy="716211"/>
          </a:xfrm>
        </p:grpSpPr>
        <p:sp>
          <p:nvSpPr>
            <p:cNvPr id="45" name="Freeform 45"/>
            <p:cNvSpPr/>
            <p:nvPr/>
          </p:nvSpPr>
          <p:spPr>
            <a:xfrm>
              <a:off x="38100" y="20389"/>
              <a:ext cx="736600" cy="71621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dirty="0"/>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1236</Words>
  <Application>Microsoft Office PowerPoint</Application>
  <PresentationFormat>Custom</PresentationFormat>
  <Paragraphs>310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Bookman Old Style</vt:lpstr>
      <vt:lpstr>Gotham Bold Italics</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Sk Mansoor</cp:lastModifiedBy>
  <cp:revision>13</cp:revision>
  <dcterms:created xsi:type="dcterms:W3CDTF">2006-08-16T00:00:00Z</dcterms:created>
  <dcterms:modified xsi:type="dcterms:W3CDTF">2026-03-26T06:52:41Z</dcterms:modified>
  <dc:identifier>DAHCaYqJ9OU</dc:identifier>
</cp:coreProperties>
</file>